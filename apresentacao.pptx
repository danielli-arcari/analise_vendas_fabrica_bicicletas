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0D1B3E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2013*</c:v>
                  </c:pt>
                  <c:pt idx="1">
                    <c:v>2014</c:v>
                  </c:pt>
                  <c:pt idx="2">
                    <c:v>2015</c:v>
                  </c:pt>
                  <c:pt idx="3">
                    <c:v>2016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28.2</c:v>
                </c:pt>
                <c:pt idx="1">
                  <c:v>97.6</c:v>
                </c:pt>
                <c:pt idx="2">
                  <c:v>56</c:v>
                </c:pt>
                <c:pt idx="3">
                  <c:v>56.1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Lucro (R$ mi)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0D1B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Government</c:v>
                  </c:pt>
                  <c:pt idx="1">
                    <c:v>Small Business</c:v>
                  </c:pt>
                  <c:pt idx="2">
                    <c:v>Channel Partners</c:v>
                  </c:pt>
                  <c:pt idx="3">
                    <c:v>Midmarket</c:v>
                  </c:pt>
                  <c:pt idx="4">
                    <c:v>Enterprise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24.6</c:v>
                </c:pt>
                <c:pt idx="1">
                  <c:v>8</c:v>
                </c:pt>
                <c:pt idx="2">
                  <c:v>2.5</c:v>
                </c:pt>
                <c:pt idx="3">
                  <c:v>1.2</c:v>
                </c:pt>
                <c:pt idx="4">
                  <c:v>-1.1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0D1B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DADOS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7830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de Vendas de Bicicletas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em Power BI, com reprodução em Python e SQL. Dados de 2013 a 2016.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Danielli Meilene Coutinho Arçari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E ABORDAGEM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para quem e para quê, antes da ferramenta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840480" cy="237744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empresa que vende bicicletas em vários países (2013 a 2016) precisa acompanhar a performance comercial. A área comercial quer avaliar vendas mensais e anuais, comparar países e segmentos, e transformar isso em ação.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1417320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66360" y="13990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contexto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quem usa e para que, antes de abrir o Power BI.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892808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66360" y="1874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os dados (ETL)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colunas, corrigir datas e erros, unir tabelas.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368296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66360" y="23500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Modelar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com tabela Calendário no centro.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843784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66360" y="282549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medidas (DAX)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Vendas, lucro, margem e crescimento ano a ano.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319272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330098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Visualizar com propósito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gráfico responde a uma pergunta do negócio.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365760" cy="36576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7764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 em decisão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investir, onde ter cautela, o que esperar.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TRATAMENTO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no Power Query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Arquivos de origem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Linhas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2013_2014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2015_2016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 2013_2014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 2015_2016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Resultado: duas bases unidas de 1.373 linhas cada, de set/2013 a dez/2016.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3440" y="1737360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EEF1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46320" y="17373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país e produto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Estavam juntos numa coluna nos arquivos de 2013 e 2014.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2487168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EEF1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46320" y="24871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a data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convertido para tipo Data, habilitando filtros de tempo.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3236976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EEF1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323697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erros de digitação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Padronizar segmentos e países que viravam categorias duplicadas.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3986784"/>
            <a:ext cx="3931920" cy="658368"/>
          </a:xfrm>
          <a:prstGeom prst="roundRect">
            <a:avLst>
              <a:gd name="adj" fmla="val 8333"/>
            </a:avLst>
          </a:prstGeom>
          <a:solidFill>
            <a:srgbClr val="EEF1F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398678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Unir as tabelas (Append)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base de vendas e uma de fabricação, fonte única de verdade.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e medidas em DAX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931920" cy="1828800"/>
          </a:xfrm>
          <a:prstGeom prst="rect">
            <a:avLst/>
          </a:prstGeom>
          <a:solidFill>
            <a:srgbClr val="F4F6FA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em estrela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Calendário fica no centro, ligada às tabelas de vendas e de fabricação pela data, em relacionamentos de um para muitos. Qualquer filtro de período afeta todos os gráficos ao mesmo tempo.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criadas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Vendas 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total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Total 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total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Lucro dividido por vendas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3154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de Fabricação 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dos produtos vendidos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Crescimento Ano a Ano   </a:t>
            </a:r>
            <a:pPr indent="0" marL="0"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frente ao ano anterior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páginas, três propósitos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Liderança | Mensal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vendas, lucro e margem do período, com filtro por ano e mês. Visão rápida para decisão executiva.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6616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661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de vendas | Semanal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gráficos: evolução por ano, vendas por país, por segmento, lucro por segmento e vendas por produto.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50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achados e recomendações: onde investir, onde agir com cautela e o que esperar adiante.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| TEMPO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queda de 2015 é a história central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9377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2013 tem apenas 4 meses de dados (set a dez), por isso não se compara de igual para igual.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623560" y="16002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/>
        </p:spPr>
      </p:sp>
      <p:sp>
        <p:nvSpPr>
          <p:cNvPr id="7" name="Text 4"/>
          <p:cNvSpPr/>
          <p:nvPr/>
        </p:nvSpPr>
        <p:spPr>
          <a:xfrm>
            <a:off x="580644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-42,6%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8064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das vendas de 2014 para 2015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23560" y="2624328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2715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+0,1%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06440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em 2016: estagnação, não recuperação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23560" y="3648456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37398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R$ 237,96 mi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806440" y="41513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vendas totais no período, com margem de 15%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| SEGMENTOS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vende muito e perde dinheiro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600200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/>
        </p:spPr>
      </p:sp>
      <p:sp>
        <p:nvSpPr>
          <p:cNvPr id="6" name="Text 3"/>
          <p:cNvSpPr/>
          <p:nvPr/>
        </p:nvSpPr>
        <p:spPr>
          <a:xfrm>
            <a:off x="5806440" y="16002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o negócio: 70% do lucro com 44% das unidades e 22% de margem.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23560" y="2670048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2670048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Terceiro em vendas, mas opera no prejuízo: margem de -3% e perda de R$ 1,13 mi.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23560" y="3739896"/>
            <a:ext cx="2971800" cy="96012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3739896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Partners
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pouco, mas é o mais eficiente: 73% de margem por venda.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0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fazer com os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E8006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a margem do Enterprise   </a:t>
            </a:r>
            <a:pPr indent="0" marL="0">
              <a:buNone/>
            </a:pPr>
            <a:r>
              <a:rPr lang="en-US" sz="12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muito e perde dinheiro, então o problema está em preço ou custo, não em volume.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30552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08483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Government como prioridade   </a:t>
            </a:r>
            <a:pPr indent="0" marL="0">
              <a:buNone/>
            </a:pPr>
            <a:r>
              <a:rPr lang="en-US" sz="12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 a maior parte do lucro com margem saudável.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52344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2706624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Crescer o volume de Channel Partners   </a:t>
            </a:r>
            <a:pPr indent="0" marL="0">
              <a:buNone/>
            </a:pPr>
            <a:r>
              <a:rPr lang="en-US" sz="12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Pouco explorado, mas extremamente rentável por venda.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328416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queda de 2015   </a:t>
            </a:r>
            <a:pPr indent="0" marL="0">
              <a:buNone/>
            </a:pPr>
            <a:r>
              <a:rPr lang="en-US" sz="12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Olhar preço, concorrência e mercado, e por que 2016 não recuperou.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9502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 o Paseo, revisar o Carretera   </a:t>
            </a:r>
            <a:pPr indent="0" marL="0">
              <a:buNone/>
            </a:pPr>
            <a:r>
              <a:rPr lang="en-US" sz="1200" dirty="0">
                <a:solidFill>
                  <a:srgbClr val="5A6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Garantir o carro-chefe e avaliar o produto menos vendido no portfólio.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Performance de Vendas de Bicicletas</dc:title>
  <dc:subject>PptxGenJS Presentation</dc:subject>
  <dc:creator>Danielli Meilene Coutinho Arcari</dc:creator>
  <cp:lastModifiedBy>Danielli Meilene Coutinho Arcari</cp:lastModifiedBy>
  <cp:revision>1</cp:revision>
  <dcterms:created xsi:type="dcterms:W3CDTF">2026-06-08T20:37:28Z</dcterms:created>
  <dcterms:modified xsi:type="dcterms:W3CDTF">2026-06-08T20:37:28Z</dcterms:modified>
</cp:coreProperties>
</file>